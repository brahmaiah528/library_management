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0" r:id="rId4"/>
    <p:sldId id="264" r:id="rId5"/>
    <p:sldId id="267" r:id="rId6"/>
    <p:sldId id="277" r:id="rId7"/>
    <p:sldId id="258" r:id="rId8"/>
    <p:sldId id="259" r:id="rId9"/>
    <p:sldId id="276" r:id="rId10"/>
    <p:sldId id="272" r:id="rId11"/>
    <p:sldId id="273" r:id="rId12"/>
    <p:sldId id="274" r:id="rId13"/>
    <p:sldId id="278" r:id="rId14"/>
    <p:sldId id="263" r:id="rId15"/>
    <p:sldId id="275" r:id="rId16"/>
    <p:sldId id="265" r:id="rId17"/>
    <p:sldId id="269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HMAIAH JAMPALA" userId="4c25c362189d6ed3" providerId="LiveId" clId="{2461A246-B287-4C06-8667-ED8653FE6F0A}"/>
    <pc:docChg chg="custSel addSld delSld modSld">
      <pc:chgData name="BRAHMAIAH JAMPALA" userId="4c25c362189d6ed3" providerId="LiveId" clId="{2461A246-B287-4C06-8667-ED8653FE6F0A}" dt="2026-09-04T09:00:00.293" v="26" actId="20577"/>
      <pc:docMkLst>
        <pc:docMk/>
      </pc:docMkLst>
      <pc:sldChg chg="modSp mod">
        <pc:chgData name="BRAHMAIAH JAMPALA" userId="4c25c362189d6ed3" providerId="LiveId" clId="{2461A246-B287-4C06-8667-ED8653FE6F0A}" dt="2026-09-04T09:00:00.293" v="26" actId="20577"/>
        <pc:sldMkLst>
          <pc:docMk/>
          <pc:sldMk cId="3747579819" sldId="256"/>
        </pc:sldMkLst>
        <pc:spChg chg="mod">
          <ac:chgData name="BRAHMAIAH JAMPALA" userId="4c25c362189d6ed3" providerId="LiveId" clId="{2461A246-B287-4C06-8667-ED8653FE6F0A}" dt="2026-09-04T09:00:00.293" v="26" actId="20577"/>
          <ac:spMkLst>
            <pc:docMk/>
            <pc:sldMk cId="3747579819" sldId="256"/>
            <ac:spMk id="4" creationId="{AFBA009F-6698-D91C-5986-361AB321E0BB}"/>
          </ac:spMkLst>
        </pc:spChg>
      </pc:sldChg>
      <pc:sldChg chg="modSp mod">
        <pc:chgData name="BRAHMAIAH JAMPALA" userId="4c25c362189d6ed3" providerId="LiveId" clId="{2461A246-B287-4C06-8667-ED8653FE6F0A}" dt="2026-08-29T03:18:36.360" v="3" actId="20577"/>
        <pc:sldMkLst>
          <pc:docMk/>
          <pc:sldMk cId="158426692" sldId="266"/>
        </pc:sldMkLst>
        <pc:spChg chg="mod">
          <ac:chgData name="BRAHMAIAH JAMPALA" userId="4c25c362189d6ed3" providerId="LiveId" clId="{2461A246-B287-4C06-8667-ED8653FE6F0A}" dt="2026-08-29T03:18:36.360" v="3" actId="20577"/>
          <ac:spMkLst>
            <pc:docMk/>
            <pc:sldMk cId="158426692" sldId="266"/>
            <ac:spMk id="4" creationId="{DD5358A8-C452-4F31-7087-D2A2C539895A}"/>
          </ac:spMkLst>
        </pc:spChg>
      </pc:sldChg>
      <pc:sldChg chg="addSp delSp modSp new mod">
        <pc:chgData name="BRAHMAIAH JAMPALA" userId="4c25c362189d6ed3" providerId="LiveId" clId="{2461A246-B287-4C06-8667-ED8653FE6F0A}" dt="2026-08-29T04:08:37.881" v="10" actId="14100"/>
        <pc:sldMkLst>
          <pc:docMk/>
          <pc:sldMk cId="954810734" sldId="276"/>
        </pc:sldMkLst>
        <pc:spChg chg="mod">
          <ac:chgData name="BRAHMAIAH JAMPALA" userId="4c25c362189d6ed3" providerId="LiveId" clId="{2461A246-B287-4C06-8667-ED8653FE6F0A}" dt="2026-08-29T04:08:20.991" v="6" actId="14100"/>
          <ac:spMkLst>
            <pc:docMk/>
            <pc:sldMk cId="954810734" sldId="276"/>
            <ac:spMk id="2" creationId="{6211A465-982A-5523-0DE1-70026156C5DC}"/>
          </ac:spMkLst>
        </pc:spChg>
      </pc:sldChg>
      <pc:sldChg chg="addSp delSp modSp new mod">
        <pc:chgData name="BRAHMAIAH JAMPALA" userId="4c25c362189d6ed3" providerId="LiveId" clId="{2461A246-B287-4C06-8667-ED8653FE6F0A}" dt="2026-09-01T08:44:40.190" v="25" actId="14100"/>
        <pc:sldMkLst>
          <pc:docMk/>
          <pc:sldMk cId="3641296611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BE044-2CE0-5F90-1603-6C6309396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2F6CE-3444-AC76-E890-85A36D32C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3AF0-0773-CB57-E06E-E1D44C79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6675D-EEE5-711C-2114-0C1932E5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B6DFB-CEC8-58C6-F0F5-914BE4EC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5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52F5-CBA3-EEA4-00DC-78768BE0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EE445-E377-C3AC-5C51-E95464A25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8C077-C96F-EF35-DD79-2EF1C2867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124A5-BEB6-072A-4C4B-9FF979E8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FC45-9B2C-9D83-2BBD-C26BED68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0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E3D9-B3BD-FAA0-D5D3-4047E667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43A09-82BF-2A22-E67E-E45850A90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8CAC9-C4ED-6591-64DD-4EC4620C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413CF-DD3A-49C3-1617-1CDBA404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21DE9-1712-850F-EFB5-9798683D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CFAD-6B16-85D3-71F1-647804EC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B22BD-D236-3D9D-3D8A-1423156EB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05879-D356-DC9B-F2DB-428FB8DFE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EF4E9-2D87-A46F-6661-180A47ED6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3ACE1-814B-C503-7BE5-39AB2B14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53E80-C3F3-33DB-A871-3F133FAB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2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683E-D1E4-9941-B095-3AFEBA4E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BC534-188C-C6EB-0E50-29582FB30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593C2-D3C2-7C28-58B0-DBD42645A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57868-5081-8186-2346-968A13C73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6BE33-C74E-C5E2-7634-4D87A3C11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0CD25-C98D-5D32-D307-40AA1228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B6E8B-DC33-8CBE-2FF1-7434C0B7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B43DF3-45E1-758F-42D6-0984A3CD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8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44DD-ED2F-CE50-A3A5-E317163F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1E854-8A9C-7562-9E10-750806FF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21B0B-90DE-44CE-D994-6276B9B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F2B25-DDA8-ADE9-AA44-1F030F3D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2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727B0-C755-B4E8-9E05-94E9BA48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4932B9-1CD5-9CD6-11C1-71EC2280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10A97-7099-54F8-4C9A-4C6C4CD3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4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C4CB-32E3-DBAC-FD9C-F03F0B57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A744-E5C9-D0FF-641A-0650D97EB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26EE1-49C4-2E63-5EE3-F21BC2E27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06065-B8BB-0C56-1261-A55E4BFB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CF701-296B-33B6-7A65-B1C39CC2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1FFEE-166E-6D1E-DCBE-A943856B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3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3FE5-898A-C36D-CEDA-819A8995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08CEE-1657-BE48-B564-E1E7929DA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1E135-E0D4-4252-1467-D4AA9E53D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CDC-33C1-2951-0148-C1F8280C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1476D-C7A6-34EA-2C15-040DFD44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23F51-6B60-F09A-6473-2D9DA8C6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1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0026B-63BF-31F0-CECF-61CE73DC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513F5-8A8D-BDF2-1C28-89A1BA27A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FFA66-47DE-8FEF-0439-F9ECC815C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418F3-975E-1256-F78D-E0A9EDF8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4B1C5-4BC9-E452-6FAD-EA10D9B9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9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CF710-FAD4-6A67-FFBC-A015045D7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27C76-DDDB-0249-D405-C851B8C73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6EDB8-DFA2-5079-603D-A34AD36C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83EAA-CDFB-BDC2-A6D6-12E63A16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36088-F226-75DF-11A7-28D57645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6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C9C25-4D5C-3114-4044-F1FF3B44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78C28-4F5F-BE93-D95C-0A16E0759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CE70-62A3-59FC-A84D-97A56800F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A627B-F6DB-4E12-8584-9316272829A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13CD2-A300-12DE-612A-BB1B332F8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C65F2-6CD2-E7A6-175B-1952BFAAC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6203B-F591-42EB-BC3E-0B30FFB72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4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9B83-1E6E-77B5-F44B-0AED99417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Times New Roman"/>
              </a:rPr>
              <a:t>FULL-STACK LIBRARY MANAGEMENT SYSTEM WEB APPLICATION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46130-8686-15D0-4847-357ADCD39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0603" y="4998105"/>
            <a:ext cx="5151620" cy="1655762"/>
          </a:xfrm>
        </p:spPr>
        <p:txBody>
          <a:bodyPr>
            <a:normAutofit/>
          </a:bodyPr>
          <a:lstStyle/>
          <a:p>
            <a:pPr algn="r"/>
            <a:r>
              <a:rPr sz="1800" b="1">
                <a:solidFill>
                  <a:srgbClr val="111827"/>
                </a:solidFill>
                <a:latin typeface="Times New Roman"/>
              </a:rPr>
              <a:t>PRESENTED BY:</a:t>
            </a:r>
          </a:p>
          <a:p>
            <a:r>
              <a:rPr sz="1600" b="0">
                <a:solidFill>
                  <a:srgbClr val="1E293B"/>
                </a:solidFill>
                <a:latin typeface="Times New Roman"/>
              </a:rPr>
              <a:t>J.BRAHMAIAH (192472286)</a:t>
            </a:r>
          </a:p>
          <a:p>
            <a:r>
              <a:rPr sz="1600" b="0">
                <a:solidFill>
                  <a:srgbClr val="1E293B"/>
                </a:solidFill>
                <a:latin typeface="Times New Roman"/>
              </a:rPr>
              <a:t>Adhavan Chandrasekar (192521209)</a:t>
            </a:r>
          </a:p>
          <a:p>
            <a:r>
              <a:rPr sz="1600" b="0">
                <a:solidFill>
                  <a:srgbClr val="1E293B"/>
                </a:solidFill>
                <a:latin typeface="Times New Roman"/>
              </a:rPr>
              <a:t>B Karthik Ratan (192372051)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48FB-1AB7-F781-DB9B-79C45267EB1B}"/>
              </a:ext>
            </a:extLst>
          </p:cNvPr>
          <p:cNvSpPr txBox="1"/>
          <p:nvPr/>
        </p:nvSpPr>
        <p:spPr>
          <a:xfrm>
            <a:off x="339777" y="4907756"/>
            <a:ext cx="3182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Times New Roman"/>
              </a:rPr>
              <a:t>GUIDED BY:</a:t>
            </a:r>
          </a:p>
          <a:p>
            <a:r>
              <a:rPr sz="1800" b="0">
                <a:solidFill>
                  <a:srgbClr val="1E293B"/>
                </a:solidFill>
                <a:latin typeface="Times New Roman"/>
              </a:rPr>
              <a:t>Dr. M.SHAKILA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EC4DE-ABBE-5097-4183-6A01EDCB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77" y="204133"/>
            <a:ext cx="11127697" cy="14148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BA009F-6698-D91C-5986-361AB321E0BB}"/>
              </a:ext>
            </a:extLst>
          </p:cNvPr>
          <p:cNvSpPr txBox="1"/>
          <p:nvPr/>
        </p:nvSpPr>
        <p:spPr>
          <a:xfrm>
            <a:off x="3522689" y="3844474"/>
            <a:ext cx="683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800" b="1" dirty="0">
                <a:solidFill>
                  <a:srgbClr val="1E293B"/>
                </a:solidFill>
                <a:latin typeface="Times New Roman"/>
              </a:rPr>
              <a:t>CSA 0313: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74757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F10A-B72A-19A2-12A8-A1743899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9511"/>
            <a:ext cx="10515600" cy="1325563"/>
          </a:xfrm>
        </p:spPr>
        <p:txBody>
          <a:bodyPr>
            <a:normAutofit/>
          </a:bodyPr>
          <a:lstStyle/>
          <a:p>
            <a:r>
              <a:rPr sz="4400" b="1">
                <a:solidFill>
                  <a:srgbClr val="111827"/>
                </a:solidFill>
                <a:latin typeface="Times New Roman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358A8-C452-4F31-7087-D2A2C539895A}"/>
              </a:ext>
            </a:extLst>
          </p:cNvPr>
          <p:cNvSpPr txBox="1"/>
          <p:nvPr/>
        </p:nvSpPr>
        <p:spPr>
          <a:xfrm>
            <a:off x="663153" y="1136052"/>
            <a:ext cx="10445646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Context &amp; Challenge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Academic libraries manage extensive catalogs and high student circulation volumes. Traditional manual paper registers and fragmented legacy software suffer from inventory discrepancies, delayed loan tracking, and administrative overhead.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Proposed Solution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This project implements a production-grade Full-Stack Library Management System web application built with React.js (Vite), Node.js, Express.js, and MongoDB (Mongoose) with stateless JWT authentication.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Modular Architecture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The system is structured into four decoupled core modules: (1) User and Authentication Management, (2) Book Inventory Management, (3) Book Transaction Management, and (4) Report and System Administration.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Technical Innovations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Features an automated overdue fine calculation engine ($5/day overdue penalty), real-time stock synchronization (total vs available copies), lightweight pure SVG analytics charts, and automatic in-memory MongoDB fallback.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Impact &amp; Efficiency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Delivers sub-second catalog search responsiveness, robust Role-Based Access Control (Admin vs Student), persistent dark/light theme, and one-click CSV audit reporting for enterprise-ready library operations.</a:t>
            </a:r>
          </a:p>
        </p:txBody>
      </p:sp>
    </p:spTree>
    <p:extLst>
      <p:ext uri="{BB962C8B-B14F-4D97-AF65-F5344CB8AC3E}">
        <p14:creationId xmlns:p14="http://schemas.microsoft.com/office/powerpoint/2010/main" val="15842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6EC8-2DB5-A053-6480-B18842F2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11827"/>
                </a:solidFill>
                <a:latin typeface="Times New Roman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FB9F0-2FB4-006B-C6D7-CECFEABF8C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Academic Hub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Libraries are foundational knowledge centers handling thousands of physical volumes and continuous student borrowing activities.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Digital Modernization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Modern academic workflows demand instant catalog discovery, accurate shelf status, and self-service borrowing visibility from any web device.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Legacy System Pitfalls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Manual paper registers and desktop-bound legacy systems cause missing records, human calculation errors, and lost overdue penalty revenues.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Unified Web Platform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The proposed MERN application centralizes acquisition, cataloging, circulation desk operations, and student directory administration.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Core Objective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To deliver a secure, high-performance web platform balancing strict administrative oversight with an intuitive student experience.</a:t>
            </a:r>
          </a:p>
        </p:txBody>
      </p:sp>
      <p:pic>
        <p:nvPicPr>
          <p:cNvPr id="4" name="Picture 3" descr="diagram_slide3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0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E572-466E-493C-AB16-BC5A6043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11827"/>
                </a:solidFill>
                <a:latin typeface="Times New Roman"/>
              </a:rPr>
              <a:t>Problem Statements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49C19-2A3F-2FEF-B2BB-AF613FD16D25}"/>
              </a:ext>
            </a:extLst>
          </p:cNvPr>
          <p:cNvSpPr txBox="1"/>
          <p:nvPr/>
        </p:nvSpPr>
        <p:spPr>
          <a:xfrm>
            <a:off x="838200" y="1690688"/>
            <a:ext cx="99846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Manual Record-Keeping Bottlenecks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Physical register books and paper cards cause transcription errors, illegible entries, and long student wait queues.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Real-Time Stock Discrepancies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Librarians lack instant visibility into total holdings versus available shelf copies, leading to duplicate loan attempts.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Inconsistent Overdue Fine Recovery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Manual calculation of elapsed loan days leads to uncollected fines, calculation errors, and administrative disputes.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Disconnected Student Experience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Students cannot remotely verify book availability, check shelf locations, or review active borrowing due dates.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Complex Environment Setup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Conventional database-driven academic software requires complex local installation, hindering frictionless evaluation.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Labor-Intensive Audit Reports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Compiling monthly lending summaries and overdue audit logs requires days of tedious manual data collation.</a:t>
            </a:r>
          </a:p>
        </p:txBody>
      </p:sp>
    </p:spTree>
    <p:extLst>
      <p:ext uri="{BB962C8B-B14F-4D97-AF65-F5344CB8AC3E}">
        <p14:creationId xmlns:p14="http://schemas.microsoft.com/office/powerpoint/2010/main" val="351505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221FAE-ADF9-19C2-13CD-F620C45B5BF8}"/>
              </a:ext>
            </a:extLst>
          </p:cNvPr>
          <p:cNvSpPr txBox="1"/>
          <p:nvPr/>
        </p:nvSpPr>
        <p:spPr>
          <a:xfrm>
            <a:off x="688259" y="319238"/>
            <a:ext cx="6135328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buNone/>
            </a:pPr>
            <a:r>
              <a:rPr sz="3600" b="1">
                <a:solidFill>
                  <a:srgbClr val="111827"/>
                </a:solidFill>
                <a:latin typeface="Times New Roman"/>
              </a:rPr>
              <a:t>Traditional Library Management System</a:t>
            </a:r>
          </a:p>
        </p:txBody>
      </p:sp>
      <p:pic>
        <p:nvPicPr>
          <p:cNvPr id="4" name="Picture 3" descr="diagram_slide5_tra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406"/>
            <a:ext cx="11872210" cy="575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9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Times New Roman"/>
              </a:rPr>
              <a:t>Proposed Full-Stack System Architecture</a:t>
            </a:r>
          </a:p>
        </p:txBody>
      </p:sp>
      <p:pic>
        <p:nvPicPr>
          <p:cNvPr id="7" name="Picture 6" descr="diagram_slide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6" y="353961"/>
            <a:ext cx="10402528" cy="58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9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DE3C-C601-9E8C-3B3C-4B55603BD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11827"/>
                </a:solidFill>
                <a:latin typeface="Times New Roman"/>
              </a:rPr>
              <a:t>Objective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4F28E-D43A-8FB8-D64C-1E9EECA57FB7}"/>
              </a:ext>
            </a:extLst>
          </p:cNvPr>
          <p:cNvSpPr txBox="1"/>
          <p:nvPr/>
        </p:nvSpPr>
        <p:spPr>
          <a:xfrm>
            <a:off x="838200" y="1690688"/>
            <a:ext cx="10854128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Secure Full-Stack Application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To build a responsive web platform for comprehensive library cataloging and circulation management.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Role-Based Access Control (RBAC)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To enforce granular authorization distinguishing Admin and Student roles via signed JWT tokens and Bcrypt hashing.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Real-Time Book Catalog CRUD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To engineer a searchable catalog engine with multi-field filtering (Title, Author, Category, ISBN) and shelf indicators.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Automated Circulation &amp; Overdue Engine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To streamline book issue/return workflows and automate fine calculation ($5/day overdue penalty).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Interactive SVG Analytics &amp; CSV Reports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To provide real-time dashboard KPI metrics, pure SVG visual charts, and one-click CSV report export.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Zero-Config In-Memory Fallback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To integrate an automated in-memory MongoDB fallback server ensuring frictionless out-of-the-box local execution.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Modern Accessible UI/UX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To offer persistent dark/light theme switching and one-click quick demo login buttons for defense evaluation.</a:t>
            </a:r>
          </a:p>
        </p:txBody>
      </p:sp>
    </p:spTree>
    <p:extLst>
      <p:ext uri="{BB962C8B-B14F-4D97-AF65-F5344CB8AC3E}">
        <p14:creationId xmlns:p14="http://schemas.microsoft.com/office/powerpoint/2010/main" val="24686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BCC7-371B-FAD6-E473-67F10B85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sz="4000" b="1">
                <a:solidFill>
                  <a:srgbClr val="111827"/>
                </a:solidFill>
                <a:latin typeface="Times New Roman"/>
              </a:rPr>
              <a:t>Methodology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72F93-0210-7828-01E5-10F1AE67D024}"/>
              </a:ext>
            </a:extLst>
          </p:cNvPr>
          <p:cNvSpPr txBox="1"/>
          <p:nvPr/>
        </p:nvSpPr>
        <p:spPr>
          <a:xfrm>
            <a:off x="838200" y="1965992"/>
            <a:ext cx="10404423" cy="520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User Authentication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Implement stateless JWT tokens and Bcrypt password hashing (10 salt rounds) for role-guarded session security.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Catalog Ingestion &amp; Tagging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Model book entities with unique ISBN indices, category taxonomies, and physical shelf rack coordinates.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Real-Time Stock Synchronization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Enforce atomic consistency between total library holdings and active available copies across all transactions.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Guided Issue Wizard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Validate active student limits and available copies (&gt; 0) before issuing with an automated 14-day loan duration.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Dynamic Overdue Fine Calculation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Evaluate return timestamp against due date and compute overdue penalty at $5 per day overdue rate.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Inventory Auto-Restoration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Increment available copy count (+1) upon confirmed book return and persist return timestamps for audit trails.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Pure SVG Dashboard Analytics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Render reactive SVG charts for monthly lending trends and category breakdowns without heavy external libraries.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Audit Export &amp; Dual-Mode DB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Provide one-click CSV export and support automated in-memory MongoDB fallback for zero-configuration testing.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726F6-381B-0C43-12EA-37B3FB6CA50D}"/>
              </a:ext>
            </a:extLst>
          </p:cNvPr>
          <p:cNvSpPr txBox="1"/>
          <p:nvPr/>
        </p:nvSpPr>
        <p:spPr>
          <a:xfrm>
            <a:off x="838200" y="910151"/>
            <a:ext cx="9035845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buNone/>
            </a:pPr>
            <a:r>
              <a:rPr sz="1500" b="1">
                <a:solidFill>
                  <a:srgbClr val="2563EB"/>
                </a:solidFill>
                <a:latin typeface="Times New Roman"/>
              </a:rPr>
              <a:t>Flow:  User Auth → Catalog Ingestion → Stock Validation → Circulation Issue → Overdue &amp; Return Engine → SVG Analytics &amp; CSV Reports</a:t>
            </a:r>
            <a:endParaRPr lang="en-IN" sz="1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51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A465-982A-5523-0DE1-70026156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/>
          <a:lstStyle/>
          <a:p>
            <a:r>
              <a:rPr sz="3600" b="1">
                <a:solidFill>
                  <a:srgbClr val="111827"/>
                </a:solidFill>
                <a:latin typeface="Times New Roman"/>
              </a:rPr>
              <a:t>Data Flow &amp; Circulation Control Pipeline</a:t>
            </a:r>
            <a:endParaRPr lang="en-IN" dirty="0"/>
          </a:p>
        </p:txBody>
      </p:sp>
      <p:pic>
        <p:nvPicPr>
          <p:cNvPr id="3" name="Picture 2" descr="diagram_slide9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7355"/>
            <a:ext cx="10409903" cy="484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10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4636-3AE9-EA51-F534-51F7905C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>
                <a:solidFill>
                  <a:srgbClr val="111827"/>
                </a:solidFill>
                <a:latin typeface="Times New Roman"/>
              </a:rPr>
              <a:t>Module 1: User and Authentication Management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62FDE-8376-F241-BDB3-A832DB36C8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Stateless JWT Authentication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Signs and issues secure JSON Web Tokens containing user ID, email, and role payload upon successful login.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Bcrypt Password Encryption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Pre-save Mongoose hook securely salts and hashes user passwords using 10 rounds to eliminate plaintext risks.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Role-Based Access Control (RBAC)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Enforces authMiddleware route guards distinguishing Admin (system-wide) and Student (self-service) roles.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Modern Login UI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Features Show/Hide password toggle, Remember Me persistence, and 1-click Quick Demo login shortcuts.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Student Registration Engine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Validates register numbers, departments, and phone credentials with automatic default student role assignment.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Profile &amp; Security Controls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Enables authenticated users to manage profile details and update account passwords securely.</a:t>
            </a:r>
          </a:p>
        </p:txBody>
      </p:sp>
      <p:pic>
        <p:nvPicPr>
          <p:cNvPr id="4" name="Picture 3" descr="diagram_slide10_modu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838" y="2199065"/>
            <a:ext cx="5181600" cy="383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9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2F857-1B48-45A4-ED0C-9268D2B7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11827"/>
                </a:solidFill>
                <a:latin typeface="Times New Roman"/>
              </a:rPr>
              <a:t>Module 2: Book Inventory Management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E697E-9385-87F5-CE91-2586A0F0BB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514350" lvl="0" indent="-51435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Full Catalog CRUD Operations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Complete administrative capability to create, view, modify, and delete book entries with instant state feedback.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Multi-Field Live Search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Instant real-time search across Title, Author, Category, and ISBN without requiring full-page reloads.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Dual Stock Metric Tracking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Independently monitors Total Copies (quantity) and Available Copies (availableCopies) in active circulation.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Shelf Location Tagging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Assigns physical rack and shelf codes (e.g. Shelf A-1, CS-3) for rapid physical book location and retrieval.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Dynamic Category Taxonomy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Classifies volumes across Computer Science, Fiction, Science, Mathematics, and Engineering genres.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Inventory Integrity Guards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Enforces unique ISBN indices and validates stock bounds to prevent negative or inconsistent inventory records.</a:t>
            </a:r>
          </a:p>
        </p:txBody>
      </p:sp>
      <p:pic>
        <p:nvPicPr>
          <p:cNvPr id="4" name="Picture 3" descr="diagram_slide11_modu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67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2943-FFAE-B0F4-0B14-9E5BD8AE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 b="1">
                <a:solidFill>
                  <a:srgbClr val="111827"/>
                </a:solidFill>
                <a:latin typeface="Times New Roman"/>
              </a:rPr>
              <a:t>Module 3: Book Transaction Management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AA0C9-D940-D954-96CE-EF810F81F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Guided Issue Desk Wizard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Intuitive modal workflow to select registered student, pick available book, and assign borrowing transaction.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Loan Duration &amp; Due Date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Automatically calculates and sets standard 14-day borrowing duration from the exact issue timestamp.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Automated Stock Decrement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Validates availableCopies &gt; 0 and decrements available count by -1 in MongoDB upon issue confirmation.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Dynamic Overdue Fine Engine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Evaluates return date against due date; computes overdue penalty automatically at $5 per day overdue.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Instant Stock Restoration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Returning a book marks transaction status as 'Returned' and automatically increments available copies by +1.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Tabbed Circulation Filtering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Convenient tabbed views for All, Issued, Overdue, and Returned records with real-time status indicator pills.</a:t>
            </a:r>
          </a:p>
        </p:txBody>
      </p:sp>
      <p:pic>
        <p:nvPicPr>
          <p:cNvPr id="4" name="Picture 3" descr="diagram_slide12_modu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101160"/>
            <a:ext cx="5648633" cy="376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32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11827"/>
                </a:solidFill>
                <a:latin typeface="Times New Roman"/>
              </a:rPr>
              <a:t>Module 4: Report and System Administration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Executive KPI Metrics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Real-time dashboard cards for Total Books, Registered Students, Active Issued Books, and Overdue Count.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Pure SVG Visual Charts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Custom React SVG charts displaying Monthly Lending Trends and Category Breakdown with zero external bloat.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Comprehensive Audit Reports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Dedicated audit logs for Monthly Summaries, Circulation Logs, Overdue Fines, and Most Borrowed Rankings.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One-Click Data Export to CSV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Instant export functionality allowing administrators to download full reports directly for Excel and Google Sheets.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Student Directory Governance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Administrative control to view student borrowing history, active loans, and fine payment records.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1E293B"/>
                </a:solidFill>
                <a:latin typeface="Times New Roman"/>
              </a:rPr>
              <a:t>Zero-Setup In-Memory Fallback – </a:t>
            </a:r>
            <a:r>
              <a:rPr sz="1800" b="0">
                <a:solidFill>
                  <a:srgbClr val="334155"/>
                </a:solidFill>
                <a:latin typeface="Times New Roman"/>
              </a:rPr>
              <a:t>Seamless dual-mode connectivity with automatic in-memory MongoDB fallback and auto-seed data for demo runs.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diagram_slide13_mod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74C8B7-F520-9B13-AC27-E822AB7F2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984963"/>
              </p:ext>
            </p:extLst>
          </p:nvPr>
        </p:nvGraphicFramePr>
        <p:xfrm>
          <a:off x="659567" y="1499016"/>
          <a:ext cx="10286641" cy="4967676"/>
        </p:xfrm>
        <a:graphic>
          <a:graphicData uri="http://schemas.openxmlformats.org/drawingml/2006/table">
            <a:tbl>
              <a:tblPr/>
              <a:tblGrid>
                <a:gridCol w="1532385">
                  <a:extLst>
                    <a:ext uri="{9D8B030D-6E8A-4147-A177-3AD203B41FA5}">
                      <a16:colId xmlns:a16="http://schemas.microsoft.com/office/drawing/2014/main" val="1528283370"/>
                    </a:ext>
                  </a:extLst>
                </a:gridCol>
                <a:gridCol w="2188564">
                  <a:extLst>
                    <a:ext uri="{9D8B030D-6E8A-4147-A177-3AD203B41FA5}">
                      <a16:colId xmlns:a16="http://schemas.microsoft.com/office/drawing/2014/main" val="3864212521"/>
                    </a:ext>
                  </a:extLst>
                </a:gridCol>
                <a:gridCol w="2188564">
                  <a:extLst>
                    <a:ext uri="{9D8B030D-6E8A-4147-A177-3AD203B41FA5}">
                      <a16:colId xmlns:a16="http://schemas.microsoft.com/office/drawing/2014/main" val="2939065769"/>
                    </a:ext>
                  </a:extLst>
                </a:gridCol>
                <a:gridCol w="2188564">
                  <a:extLst>
                    <a:ext uri="{9D8B030D-6E8A-4147-A177-3AD203B41FA5}">
                      <a16:colId xmlns:a16="http://schemas.microsoft.com/office/drawing/2014/main" val="3173204397"/>
                    </a:ext>
                  </a:extLst>
                </a:gridCol>
                <a:gridCol w="2188564">
                  <a:extLst>
                    <a:ext uri="{9D8B030D-6E8A-4147-A177-3AD203B41FA5}">
                      <a16:colId xmlns:a16="http://schemas.microsoft.com/office/drawing/2014/main" val="3889781059"/>
                    </a:ext>
                  </a:extLst>
                </a:gridCol>
              </a:tblGrid>
              <a:tr h="240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System / Study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Architecture &amp; Stack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Core Limitations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MERN Advantage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03907"/>
                  </a:ext>
                </a:extLst>
              </a:tr>
              <a:tr h="958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Koha ILS Project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2023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Monolithic Perl, Apache, MySQL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Heavy on-premises setup, complex UI, no native dark mode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Lightweight React SPA, responsive UI, zero-config cloud ready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09301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S. Ranganathan et al.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PHP, MySQL Server-Side Render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Full page reloads on search, synchronous database queries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Sub-second client filtering, stateless REST API, pure SVG charts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576747"/>
                  </a:ext>
                </a:extLst>
              </a:tr>
              <a:tr h="958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Patel &amp; Sharma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Java Spring Boot, PostgreSQL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Rigid configuration, lacks in-memory demonstration fallback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Instant dual-mode execution via automatic in-memory MongoDB server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20716"/>
                  </a:ext>
                </a:extLst>
              </a:tr>
              <a:tr h="958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Kumar &amp; Singh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2025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React.js Client, Basic REST API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Lacked dynamic fine automation and inventory shelf tracking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Times New Roman"/>
                        </a:rPr>
                        <a:t>Integrated $5/day fine calculator, shelf indicators, and CSV export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472772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1E40AF"/>
                          </a:solidFill>
                          <a:latin typeface="Times New Roman"/>
                        </a:rPr>
                        <a:t>Brahmaiah et al. (Ours)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1E40AF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1E40AF"/>
                          </a:solidFill>
                          <a:latin typeface="Times New Roman"/>
                        </a:rPr>
                        <a:t>Full-Stack MERN + JWT + In-Memory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1E40AF"/>
                          </a:solidFill>
                          <a:latin typeface="Times New Roman"/>
                        </a:rPr>
                        <a:t>Overcomes all manual, installation, and fine tracking hurdles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1E40AF"/>
                          </a:solidFill>
                          <a:latin typeface="Times New Roman"/>
                        </a:rPr>
                        <a:t>Unified 4-module web platform with RBAC, SVG charts &amp; CSV export</a:t>
                      </a:r>
                    </a:p>
                  </a:txBody>
                  <a:tcPr marL="55786" marR="55786" marT="27893" marB="278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8938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F0F5D6-6DFF-0DDD-5F39-3A1515FA9485}"/>
              </a:ext>
            </a:extLst>
          </p:cNvPr>
          <p:cNvSpPr txBox="1"/>
          <p:nvPr/>
        </p:nvSpPr>
        <p:spPr>
          <a:xfrm>
            <a:off x="869430" y="329784"/>
            <a:ext cx="10313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Times New Roman"/>
              </a:rPr>
              <a:t>LITERATURE REVIEW &amp; COMPARATIVE TECHNOLOGY STUDY</a:t>
            </a:r>
          </a:p>
        </p:txBody>
      </p:sp>
    </p:spTree>
    <p:extLst>
      <p:ext uri="{BB962C8B-B14F-4D97-AF65-F5344CB8AC3E}">
        <p14:creationId xmlns:p14="http://schemas.microsoft.com/office/powerpoint/2010/main" val="188402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1028-8DC5-4A22-1B21-5F48B9A8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11827"/>
                </a:solidFill>
                <a:latin typeface="Times New Roman"/>
              </a:rPr>
              <a:t>Advantages &amp; Key Innovations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A139E-7145-B1D7-8C85-BE850A6A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Automated Stock Synchronization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Instant real-time synchronization between total holdings and available shelf copies eliminates duplicate loan errors.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Dynamic Financial Accountability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Automated $5/day overdue penalty computation eliminates manual calculation mistakes and fee disputes.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Granular Role-Based Security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Stateless JWT tokens and Bcrypt password hashing (10 salt rounds) enforce strict Admin vs Student access boundaries.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Zero-Dependency Visual Analytics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Custom pure SVG charts deliver high-performance lending trends and category breakdowns without heavy external charting bundles.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Frictionless Zero-Config Deployment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Automatic in-memory MongoDB fallback runs the entire app immediately in any environment without pre-installing a database.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Streamlined Administrative Workflow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One-click CSV export, print-optimized audit views, and quick demo login shortcuts save hours of daily administrative effort.</a:t>
            </a:r>
          </a:p>
        </p:txBody>
      </p:sp>
    </p:spTree>
    <p:extLst>
      <p:ext uri="{BB962C8B-B14F-4D97-AF65-F5344CB8AC3E}">
        <p14:creationId xmlns:p14="http://schemas.microsoft.com/office/powerpoint/2010/main" val="262047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4573-1A39-A5A6-FE23-49FA94FE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11827"/>
                </a:solidFill>
                <a:latin typeface="Times New Roman"/>
              </a:rPr>
              <a:t>Conclusion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36BB4-8729-13B6-8C31-F3D672627596}"/>
              </a:ext>
            </a:extLst>
          </p:cNvPr>
          <p:cNvSpPr txBox="1"/>
          <p:nvPr/>
        </p:nvSpPr>
        <p:spPr>
          <a:xfrm>
            <a:off x="838200" y="1690688"/>
            <a:ext cx="10515599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+mj-lt"/>
              <a:buAutoNum type="arabicPeriod"/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Comprehensive Full-Stack LMS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Successfully designed, developed, and evaluated a production-ready Full-Stack Library Management System web application.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Modular Architecture Realization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Seamlessly engineered all four required modules: User Auth, Book Inventory, Book Transactions, and System Reports.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Operational Bottleneck Elimination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Replaced error-prone manual paper registers with real-time stock sync and automated dynamic fine calculation.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Robust Security &amp; Access Control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Enforced enterprise-grade security using stateless JWT authentication, Bcrypt encryption, and role-guarded routes.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Evaluation &amp; Demonstration Agility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Delivered unprecedented setup ease via automated in-memory MongoDB fallback and pure SVG analytics charts.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E293B"/>
                </a:solidFill>
                <a:latin typeface="Times New Roman"/>
              </a:rPr>
              <a:t>Extensible Foundation – </a:t>
            </a:r>
            <a:r>
              <a:rPr sz="1900" b="0">
                <a:solidFill>
                  <a:srgbClr val="334155"/>
                </a:solidFill>
                <a:latin typeface="Times New Roman"/>
              </a:rPr>
              <a:t>Established a scalable software foundation fully prepared for future IoT RFID scanners and online fine payment gateways.</a:t>
            </a:r>
          </a:p>
        </p:txBody>
      </p:sp>
    </p:spTree>
    <p:extLst>
      <p:ext uri="{BB962C8B-B14F-4D97-AF65-F5344CB8AC3E}">
        <p14:creationId xmlns:p14="http://schemas.microsoft.com/office/powerpoint/2010/main" val="3373734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14FE-8A2D-B9CB-27AE-CAAB859B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11827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88111-4807-0498-968E-BFA1637FD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sz="1700" b="0">
                <a:solidFill>
                  <a:srgbClr val="334155"/>
                </a:solidFill>
                <a:latin typeface="Times New Roman"/>
              </a:rPr>
              <a:t>E. Gamma, R. Helm, R. Johnson, and J. Vlissides, "Design Patterns: Elements of Reusable Object-Oriented Software," Addison-Wesley, 2023.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Times New Roman"/>
              </a:rPr>
              <a:t>M. Haviv, "MERN Quick Start Guide: Build Full-Stack Web Applications with React, Node.js, Express, and MongoDB," Packt Publishing, 2024.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Times New Roman"/>
              </a:rPr>
              <a:t>D. Flanagan, "JavaScript: The Definitive Guide - Master the World's Most-Used Programming Language," 7th ed., O'Reilly Media, 2024.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Times New Roman"/>
              </a:rPr>
              <a:t>M. Jones, J. Bradley, and N. Sakimura, "JSON Web Token (JWT)," RFC 7519, Internet Engineering Task Force (IETF), 2023.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Times New Roman"/>
              </a:rPr>
              <a:t>MongoDB Inc., "The MongoDB Architecture Guide: High-Performance Data Modeling &amp; Horizontal Scalability," Technical Whitepaper, 2025.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Times New Roman"/>
              </a:rPr>
              <a:t>A. Banks and E. Porcello, "Learning React: Modern Patterns for Developing React Applications," 2nd ed., O'Reilly Media, 2024.</a:t>
            </a:r>
          </a:p>
        </p:txBody>
      </p:sp>
    </p:spTree>
    <p:extLst>
      <p:ext uri="{BB962C8B-B14F-4D97-AF65-F5344CB8AC3E}">
        <p14:creationId xmlns:p14="http://schemas.microsoft.com/office/powerpoint/2010/main" val="307483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883" y="2060992"/>
            <a:ext cx="6576219" cy="24810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474720"/>
            <a:ext cx="9418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Times New Roman"/>
              </a:rPr>
              <a:t>QUESTIONS &amp; ANSWERS (VIVA VOCE)</a:t>
            </a:r>
          </a:p>
          <a:p>
            <a:pPr algn="ctr">
              <a:spcBef>
                <a:spcPts val="1400"/>
              </a:spcBef>
            </a:pPr>
            <a:r>
              <a:rPr sz="1800" b="1">
                <a:solidFill>
                  <a:srgbClr val="2563EB"/>
                </a:solidFill>
                <a:latin typeface="Times New Roman"/>
              </a:rPr>
              <a:t>Full-Stack Library Management System Web Application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Presented by: J. Brahmaiah (192472286) | Adhavan Chandrasekar (192521209) | B Karthik Ratan (192372051)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334155"/>
                </a:solidFill>
                <a:latin typeface="Times New Roman"/>
              </a:rPr>
              <a:t>Project Supervisor: Dr. M. Shakila | Department of 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3893665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2048</Words>
  <Application>Microsoft Office PowerPoint</Application>
  <PresentationFormat>Widescreen</PresentationFormat>
  <Paragraphs>132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FULL-STACK LIBRARY MANAGEMENT SYSTEM WEB APPLICATION</vt:lpstr>
      <vt:lpstr>ABSTRACT</vt:lpstr>
      <vt:lpstr>Introduction</vt:lpstr>
      <vt:lpstr>Problem Statements</vt:lpstr>
      <vt:lpstr>PowerPoint Presentation</vt:lpstr>
      <vt:lpstr>PowerPoint Presentation</vt:lpstr>
      <vt:lpstr>Objective</vt:lpstr>
      <vt:lpstr>Methodology</vt:lpstr>
      <vt:lpstr>Data Flow &amp; Circulation Control Pipeline</vt:lpstr>
      <vt:lpstr>Module 1: User and Authentication Management Module</vt:lpstr>
      <vt:lpstr>Module 2: Book Inventory Management Module</vt:lpstr>
      <vt:lpstr>Module 3: Book Transaction Management Module</vt:lpstr>
      <vt:lpstr>Module 4: Report and System Administration Module</vt:lpstr>
      <vt:lpstr>PowerPoint Presentation</vt:lpstr>
      <vt:lpstr>Advantages &amp; Key Innovations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SAIL</dc:creator>
  <cp:lastModifiedBy>BRAHMAIAH JAMPALA</cp:lastModifiedBy>
  <cp:revision>7</cp:revision>
  <dcterms:created xsi:type="dcterms:W3CDTF">2026-07-23T05:09:53Z</dcterms:created>
  <dcterms:modified xsi:type="dcterms:W3CDTF">2026-09-04T09:00:11Z</dcterms:modified>
</cp:coreProperties>
</file>